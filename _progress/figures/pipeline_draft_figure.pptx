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abel: Surrogate-in-the-loop ramp-met"/>
          <p:cNvSpPr txBox="1"/>
          <p:nvPr/>
        </p:nvSpPr>
        <p:spPr>
          <a:xfrm>
            <a:off x="777240" y="1097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B2126"/>
                </a:solidFill>
                <a:latin typeface="Calibri"/>
              </a:rPr>
              <a:t>Surrogate-in-the-loop ramp-metering pipeline (draft, 2026-09)</a:t>
            </a:r>
          </a:p>
        </p:txBody>
      </p:sp>
      <p:sp>
        <p:nvSpPr>
          <p:cNvPr id="3" name="label: EE = one 1-hour SUMO episode  "/>
          <p:cNvSpPr txBox="1"/>
          <p:nvPr/>
        </p:nvSpPr>
        <p:spPr>
          <a:xfrm>
            <a:off x="7315200" y="128016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0">
                <a:solidFill>
                  <a:srgbClr val="5D686F"/>
                </a:solidFill>
                <a:latin typeface="Calibri"/>
              </a:rPr>
              <a:t>EE = one 1-hour SUMO episode  ·  amber arrows = aggregation loop  ·  pills = SUMO episodes spent</a:t>
            </a:r>
          </a:p>
        </p:txBody>
      </p:sp>
      <p:sp>
        <p:nvSpPr>
          <p:cNvPr id="4" name="lane band sumo"/>
          <p:cNvSpPr/>
          <p:nvPr/>
        </p:nvSpPr>
        <p:spPr>
          <a:xfrm>
            <a:off x="640080" y="502920"/>
            <a:ext cx="11155680" cy="1828800"/>
          </a:xfrm>
          <a:prstGeom prst="roundRect">
            <a:avLst>
              <a:gd name="adj" fmla="val 4000"/>
            </a:avLst>
          </a:prstGeom>
          <a:solidFill>
            <a:srgbClr val="FA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ane label sumo"/>
          <p:cNvSpPr txBox="1"/>
          <p:nvPr/>
        </p:nvSpPr>
        <p:spPr>
          <a:xfrm rot="16200000">
            <a:off x="-502920" y="1280160"/>
            <a:ext cx="20116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B85C14"/>
                </a:solidFill>
                <a:latin typeface="Calibri"/>
              </a:rPr>
              <a:t>SUMO  ·  1 EE per rollout</a:t>
            </a:r>
          </a:p>
        </p:txBody>
      </p:sp>
      <p:sp>
        <p:nvSpPr>
          <p:cNvPr id="6" name="lane band learn"/>
          <p:cNvSpPr/>
          <p:nvPr/>
        </p:nvSpPr>
        <p:spPr>
          <a:xfrm>
            <a:off x="640080" y="2514600"/>
            <a:ext cx="11155680" cy="1828800"/>
          </a:xfrm>
          <a:prstGeom prst="roundRect">
            <a:avLst>
              <a:gd name="adj" fmla="val 4000"/>
            </a:avLst>
          </a:prstGeom>
          <a:solidFill>
            <a:srgbClr val="EB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ane label learn"/>
          <p:cNvSpPr txBox="1"/>
          <p:nvPr/>
        </p:nvSpPr>
        <p:spPr>
          <a:xfrm rot="16200000">
            <a:off x="-502920" y="3291840"/>
            <a:ext cx="20116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C7C8A"/>
                </a:solidFill>
                <a:latin typeface="Calibri"/>
              </a:rPr>
              <a:t>LEARNING  ·  0 EE</a:t>
            </a:r>
          </a:p>
        </p:txBody>
      </p:sp>
      <p:sp>
        <p:nvSpPr>
          <p:cNvPr id="8" name="lane band eval"/>
          <p:cNvSpPr/>
          <p:nvPr/>
        </p:nvSpPr>
        <p:spPr>
          <a:xfrm>
            <a:off x="640080" y="4526280"/>
            <a:ext cx="11155680" cy="2103120"/>
          </a:xfrm>
          <a:prstGeom prst="roundRect">
            <a:avLst>
              <a:gd name="adj" fmla="val 4000"/>
            </a:avLst>
          </a:prstGeom>
          <a:solidFill>
            <a:srgbClr val="EF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ane label eval"/>
          <p:cNvSpPr txBox="1"/>
          <p:nvPr/>
        </p:nvSpPr>
        <p:spPr>
          <a:xfrm rot="16200000">
            <a:off x="-502920" y="5440679"/>
            <a:ext cx="20116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5B4FB6"/>
                </a:solidFill>
                <a:latin typeface="Calibri"/>
              </a:rPr>
              <a:t>EVALUATION</a:t>
            </a:r>
          </a:p>
        </p:txBody>
      </p:sp>
      <p:cxnSp>
        <p:nvCxnSpPr>
          <p:cNvPr id="10" name="sampler to scenario"/>
          <p:cNvCxnSpPr/>
          <p:nvPr/>
        </p:nvCxnSpPr>
        <p:spPr>
          <a:xfrm>
            <a:off x="2194560" y="1412748"/>
            <a:ext cx="457200" cy="0"/>
          </a:xfrm>
          <a:prstGeom prst="line">
            <a:avLst/>
          </a:prstGeom>
          <a:ln w="12700">
            <a:solidFill>
              <a:srgbClr val="6E7A8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abel: profile, seed"/>
          <p:cNvSpPr txBox="1"/>
          <p:nvPr/>
        </p:nvSpPr>
        <p:spPr>
          <a:xfrm>
            <a:off x="2194560" y="1120139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5D686F"/>
                </a:solidFill>
                <a:latin typeface="Calibri"/>
              </a:rPr>
              <a:t>profile, seed</a:t>
            </a:r>
          </a:p>
        </p:txBody>
      </p:sp>
      <p:cxnSp>
        <p:nvCxnSpPr>
          <p:cNvPr id="12" name="scenario to store"/>
          <p:cNvCxnSpPr/>
          <p:nvPr/>
        </p:nvCxnSpPr>
        <p:spPr>
          <a:xfrm>
            <a:off x="4069080" y="1412748"/>
            <a:ext cx="457200" cy="0"/>
          </a:xfrm>
          <a:prstGeom prst="line">
            <a:avLst/>
          </a:prstGeom>
          <a:ln w="12700">
            <a:solidFill>
              <a:srgbClr val="6E7A8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label: npz rollouts"/>
          <p:cNvSpPr txBox="1"/>
          <p:nvPr/>
        </p:nvSpPr>
        <p:spPr>
          <a:xfrm>
            <a:off x="4069080" y="1120139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5D686F"/>
                </a:solidFill>
                <a:latin typeface="Calibri"/>
              </a:rPr>
              <a:t>npz rollouts</a:t>
            </a:r>
          </a:p>
        </p:txBody>
      </p:sp>
      <p:cxnSp>
        <p:nvCxnSpPr>
          <p:cNvPr id="14" name="store to ensemble"/>
          <p:cNvCxnSpPr/>
          <p:nvPr/>
        </p:nvCxnSpPr>
        <p:spPr>
          <a:xfrm>
            <a:off x="5234940" y="1938528"/>
            <a:ext cx="0" cy="960120"/>
          </a:xfrm>
          <a:prstGeom prst="line">
            <a:avLst/>
          </a:prstGeom>
          <a:ln w="12700">
            <a:solidFill>
              <a:srgbClr val="6E7A8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abel: train, then fine-tune"/>
          <p:cNvSpPr txBox="1"/>
          <p:nvPr/>
        </p:nvSpPr>
        <p:spPr>
          <a:xfrm>
            <a:off x="5289804" y="22677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5D686F"/>
                </a:solidFill>
                <a:latin typeface="Calibri"/>
              </a:rPr>
              <a:t>train, then fine-tune</a:t>
            </a:r>
          </a:p>
        </p:txBody>
      </p:sp>
      <p:cxnSp>
        <p:nvCxnSpPr>
          <p:cNvPr id="16" name="mixture to scenario"/>
          <p:cNvCxnSpPr/>
          <p:nvPr/>
        </p:nvCxnSpPr>
        <p:spPr>
          <a:xfrm flipV="1">
            <a:off x="3360420" y="1938528"/>
            <a:ext cx="0" cy="960120"/>
          </a:xfrm>
          <a:prstGeom prst="line">
            <a:avLst/>
          </a:prstGeom>
          <a:ln w="12700">
            <a:solidFill>
              <a:srgbClr val="6E7A8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abel: u_k, round 0"/>
          <p:cNvSpPr txBox="1"/>
          <p:nvPr/>
        </p:nvSpPr>
        <p:spPr>
          <a:xfrm>
            <a:off x="3415284" y="22677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5D686F"/>
                </a:solidFill>
                <a:latin typeface="Calibri"/>
              </a:rPr>
              <a:t>u_k, round 0</a:t>
            </a:r>
          </a:p>
        </p:txBody>
      </p:sp>
      <p:cxnSp>
        <p:nvCxnSpPr>
          <p:cNvPr id="18" name="ensemble to env"/>
          <p:cNvCxnSpPr/>
          <p:nvPr/>
        </p:nvCxnSpPr>
        <p:spPr>
          <a:xfrm>
            <a:off x="5943600" y="3424428"/>
            <a:ext cx="457200" cy="0"/>
          </a:xfrm>
          <a:prstGeom prst="line">
            <a:avLst/>
          </a:prstGeom>
          <a:ln w="12700">
            <a:solidFill>
              <a:srgbClr val="6E7A8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abel: 5 × best.pt"/>
          <p:cNvSpPr txBox="1"/>
          <p:nvPr/>
        </p:nvSpPr>
        <p:spPr>
          <a:xfrm>
            <a:off x="5943600" y="31318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5D686F"/>
                </a:solidFill>
                <a:latin typeface="Calibri"/>
              </a:rPr>
              <a:t>5 × best.pt</a:t>
            </a:r>
          </a:p>
        </p:txBody>
      </p:sp>
      <p:cxnSp>
        <p:nvCxnSpPr>
          <p:cNvPr id="20" name="env to ppo"/>
          <p:cNvCxnSpPr/>
          <p:nvPr/>
        </p:nvCxnSpPr>
        <p:spPr>
          <a:xfrm>
            <a:off x="7818120" y="3287268"/>
            <a:ext cx="457200" cy="0"/>
          </a:xfrm>
          <a:prstGeom prst="line">
            <a:avLst/>
          </a:prstGeom>
          <a:ln w="12700">
            <a:solidFill>
              <a:srgbClr val="6E7A8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abel: obs, reward"/>
          <p:cNvSpPr txBox="1"/>
          <p:nvPr/>
        </p:nvSpPr>
        <p:spPr>
          <a:xfrm>
            <a:off x="7818120" y="30129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5D686F"/>
                </a:solidFill>
                <a:latin typeface="Calibri"/>
              </a:rPr>
              <a:t>obs, reward</a:t>
            </a:r>
          </a:p>
        </p:txBody>
      </p:sp>
      <p:cxnSp>
        <p:nvCxnSpPr>
          <p:cNvPr id="22" name="ppo to env"/>
          <p:cNvCxnSpPr/>
          <p:nvPr/>
        </p:nvCxnSpPr>
        <p:spPr>
          <a:xfrm flipH="1">
            <a:off x="7818120" y="3561588"/>
            <a:ext cx="457200" cy="0"/>
          </a:xfrm>
          <a:prstGeom prst="line">
            <a:avLst/>
          </a:prstGeom>
          <a:ln w="12700">
            <a:solidFill>
              <a:srgbClr val="6E7A8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label: action u"/>
          <p:cNvSpPr txBox="1"/>
          <p:nvPr/>
        </p:nvSpPr>
        <p:spPr>
          <a:xfrm>
            <a:off x="7818120" y="36073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5D686F"/>
                </a:solidFill>
                <a:latin typeface="Calibri"/>
              </a:rPr>
              <a:t>action u</a:t>
            </a:r>
          </a:p>
        </p:txBody>
      </p:sp>
      <p:cxnSp>
        <p:nvCxnSpPr>
          <p:cNvPr id="24" name="loop: ppo to validation 1"/>
          <p:cNvCxnSpPr/>
          <p:nvPr/>
        </p:nvCxnSpPr>
        <p:spPr>
          <a:xfrm flipV="1">
            <a:off x="8983980" y="2615184"/>
            <a:ext cx="0" cy="283464"/>
          </a:xfrm>
          <a:prstGeom prst="line">
            <a:avLst/>
          </a:prstGeom>
          <a:ln w="22225">
            <a:solidFill>
              <a:srgbClr val="B85C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loop: ppo to validation 2"/>
          <p:cNvCxnSpPr/>
          <p:nvPr/>
        </p:nvCxnSpPr>
        <p:spPr>
          <a:xfrm flipH="1">
            <a:off x="7109460" y="2615184"/>
            <a:ext cx="1874520" cy="0"/>
          </a:xfrm>
          <a:prstGeom prst="line">
            <a:avLst/>
          </a:prstGeom>
          <a:ln w="22225">
            <a:solidFill>
              <a:srgbClr val="B85C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loop: ppo to validation 3"/>
          <p:cNvCxnSpPr/>
          <p:nvPr/>
        </p:nvCxnSpPr>
        <p:spPr>
          <a:xfrm flipV="1">
            <a:off x="7109460" y="1938528"/>
            <a:ext cx="0" cy="676656"/>
          </a:xfrm>
          <a:prstGeom prst="line">
            <a:avLst/>
          </a:prstGeom>
          <a:ln w="22225">
            <a:solidFill>
              <a:srgbClr val="B85C1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abel: top-3 checkpoints, ranked by s"/>
          <p:cNvSpPr txBox="1"/>
          <p:nvPr/>
        </p:nvSpPr>
        <p:spPr>
          <a:xfrm>
            <a:off x="7155180" y="2377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>
                <a:solidFill>
                  <a:srgbClr val="8F4406"/>
                </a:solidFill>
                <a:latin typeface="Calibri"/>
              </a:rPr>
              <a:t>top-3 checkpoints, ranked by surrogate return on V</a:t>
            </a:r>
          </a:p>
        </p:txBody>
      </p:sp>
      <p:cxnSp>
        <p:nvCxnSpPr>
          <p:cNvPr id="28" name="loop: validation to store 1"/>
          <p:cNvCxnSpPr/>
          <p:nvPr/>
        </p:nvCxnSpPr>
        <p:spPr>
          <a:xfrm>
            <a:off x="6675120" y="1938528"/>
            <a:ext cx="0" cy="237744"/>
          </a:xfrm>
          <a:prstGeom prst="line">
            <a:avLst/>
          </a:prstGeom>
          <a:ln w="22225">
            <a:solidFill>
              <a:srgbClr val="B85C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loop: validation to store 2"/>
          <p:cNvCxnSpPr/>
          <p:nvPr/>
        </p:nvCxnSpPr>
        <p:spPr>
          <a:xfrm flipH="1">
            <a:off x="6172200" y="2176272"/>
            <a:ext cx="502920" cy="0"/>
          </a:xfrm>
          <a:prstGeom prst="line">
            <a:avLst/>
          </a:prstGeom>
          <a:ln w="22225">
            <a:solidFill>
              <a:srgbClr val="B85C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op: validation to store 3"/>
          <p:cNvCxnSpPr/>
          <p:nvPr/>
        </p:nvCxnSpPr>
        <p:spPr>
          <a:xfrm flipV="1">
            <a:off x="6172200" y="1412748"/>
            <a:ext cx="0" cy="763524"/>
          </a:xfrm>
          <a:prstGeom prst="line">
            <a:avLst/>
          </a:prstGeom>
          <a:ln w="22225">
            <a:solidFill>
              <a:srgbClr val="B85C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op: validation to store 4"/>
          <p:cNvCxnSpPr/>
          <p:nvPr/>
        </p:nvCxnSpPr>
        <p:spPr>
          <a:xfrm flipH="1">
            <a:off x="5943600" y="1412748"/>
            <a:ext cx="228600" cy="0"/>
          </a:xfrm>
          <a:prstGeom prst="line">
            <a:avLst/>
          </a:prstGeom>
          <a:ln w="22225">
            <a:solidFill>
              <a:srgbClr val="B85C1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abel: append 54 rollouts per round"/>
          <p:cNvSpPr txBox="1"/>
          <p:nvPr/>
        </p:nvSpPr>
        <p:spPr>
          <a:xfrm>
            <a:off x="6748272" y="197510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>
                <a:solidFill>
                  <a:srgbClr val="8F4406"/>
                </a:solidFill>
                <a:latin typeface="Calibri"/>
              </a:rPr>
              <a:t>append 54 rollouts per round</a:t>
            </a:r>
          </a:p>
        </p:txBody>
      </p:sp>
      <p:cxnSp>
        <p:nvCxnSpPr>
          <p:cNvPr id="33" name="validation to finetune"/>
          <p:cNvCxnSpPr/>
          <p:nvPr/>
        </p:nvCxnSpPr>
        <p:spPr>
          <a:xfrm>
            <a:off x="7818120" y="1412748"/>
            <a:ext cx="457200" cy="0"/>
          </a:xfrm>
          <a:prstGeom prst="line">
            <a:avLst/>
          </a:prstGeom>
          <a:ln w="12700">
            <a:solidFill>
              <a:srgbClr val="6E7A8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label: selected policy"/>
          <p:cNvSpPr txBox="1"/>
          <p:nvPr/>
        </p:nvSpPr>
        <p:spPr>
          <a:xfrm>
            <a:off x="7818120" y="145846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5D686F"/>
                </a:solidFill>
                <a:latin typeface="Calibri"/>
              </a:rPr>
              <a:t>selected policy</a:t>
            </a:r>
          </a:p>
        </p:txBody>
      </p:sp>
      <p:cxnSp>
        <p:nvCxnSpPr>
          <p:cNvPr id="35" name="finetune to evaluation 1"/>
          <p:cNvCxnSpPr/>
          <p:nvPr/>
        </p:nvCxnSpPr>
        <p:spPr>
          <a:xfrm>
            <a:off x="9692640" y="1412748"/>
            <a:ext cx="685800" cy="0"/>
          </a:xfrm>
          <a:prstGeom prst="line">
            <a:avLst/>
          </a:prstGeom>
          <a:ln w="12700">
            <a:solidFill>
              <a:srgbClr val="6E7A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finetune to evaluation 2"/>
          <p:cNvCxnSpPr/>
          <p:nvPr/>
        </p:nvCxnSpPr>
        <p:spPr>
          <a:xfrm>
            <a:off x="10378440" y="1412748"/>
            <a:ext cx="0" cy="3497580"/>
          </a:xfrm>
          <a:prstGeom prst="line">
            <a:avLst/>
          </a:prstGeom>
          <a:ln w="12700">
            <a:solidFill>
              <a:srgbClr val="6E7A8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label: policy under test (A0 / A1 / A"/>
          <p:cNvSpPr txBox="1"/>
          <p:nvPr/>
        </p:nvSpPr>
        <p:spPr>
          <a:xfrm>
            <a:off x="10442448" y="32461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5D686F"/>
                </a:solidFill>
                <a:latin typeface="Calibri"/>
              </a:rPr>
              <a:t>policy under test (A0 / A1 / A2)</a:t>
            </a:r>
          </a:p>
        </p:txBody>
      </p:sp>
      <p:cxnSp>
        <p:nvCxnSpPr>
          <p:cNvPr id="38" name="reference arms to evaluation"/>
          <p:cNvCxnSpPr/>
          <p:nvPr/>
        </p:nvCxnSpPr>
        <p:spPr>
          <a:xfrm>
            <a:off x="9692640" y="5230368"/>
            <a:ext cx="457200" cy="0"/>
          </a:xfrm>
          <a:prstGeom prst="line">
            <a:avLst/>
          </a:prstGeom>
          <a:ln w="12700">
            <a:solidFill>
              <a:srgbClr val="6E7A8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label: SUMO-tuned"/>
          <p:cNvSpPr txBox="1"/>
          <p:nvPr/>
        </p:nvSpPr>
        <p:spPr>
          <a:xfrm>
            <a:off x="9692640" y="49560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5D686F"/>
                </a:solidFill>
                <a:latin typeface="Calibri"/>
              </a:rPr>
              <a:t>SUMO-tuned</a:t>
            </a:r>
          </a:p>
        </p:txBody>
      </p:sp>
      <p:cxnSp>
        <p:nvCxnSpPr>
          <p:cNvPr id="40" name="surrogate baselines to evaluation"/>
          <p:cNvCxnSpPr/>
          <p:nvPr/>
        </p:nvCxnSpPr>
        <p:spPr>
          <a:xfrm>
            <a:off x="9692640" y="5961888"/>
            <a:ext cx="457200" cy="0"/>
          </a:xfrm>
          <a:prstGeom prst="line">
            <a:avLst/>
          </a:prstGeom>
          <a:ln w="12700">
            <a:solidFill>
              <a:srgbClr val="6E7A8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label: model-based"/>
          <p:cNvSpPr txBox="1"/>
          <p:nvPr/>
        </p:nvSpPr>
        <p:spPr>
          <a:xfrm>
            <a:off x="9692640" y="568756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5D686F"/>
                </a:solidFill>
                <a:latin typeface="Calibri"/>
              </a:rPr>
              <a:t>model-based</a:t>
            </a:r>
          </a:p>
        </p:txBody>
      </p:sp>
      <p:cxnSp>
        <p:nvCxnSpPr>
          <p:cNvPr id="42" name="ensemble to surrogate baselines 1"/>
          <p:cNvCxnSpPr/>
          <p:nvPr/>
        </p:nvCxnSpPr>
        <p:spPr>
          <a:xfrm>
            <a:off x="5234940" y="3950208"/>
            <a:ext cx="0" cy="2011680"/>
          </a:xfrm>
          <a:prstGeom prst="line">
            <a:avLst/>
          </a:prstGeom>
          <a:ln w="12700">
            <a:solidFill>
              <a:srgbClr val="6E7A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ensemble to surrogate baselines 2"/>
          <p:cNvCxnSpPr/>
          <p:nvPr/>
        </p:nvCxnSpPr>
        <p:spPr>
          <a:xfrm>
            <a:off x="5234940" y="5961888"/>
            <a:ext cx="3040380" cy="0"/>
          </a:xfrm>
          <a:prstGeom prst="line">
            <a:avLst/>
          </a:prstGeom>
          <a:ln w="12700">
            <a:solidFill>
              <a:srgbClr val="6E7A8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label: ensemble-mean model, same roll"/>
          <p:cNvSpPr txBox="1"/>
          <p:nvPr/>
        </p:nvSpPr>
        <p:spPr>
          <a:xfrm>
            <a:off x="5326380" y="5705855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5D686F"/>
                </a:solidFill>
                <a:latin typeface="Calibri"/>
              </a:rPr>
              <a:t>ensemble-mean model, same rollouts</a:t>
            </a:r>
          </a:p>
        </p:txBody>
      </p:sp>
      <p:cxnSp>
        <p:nvCxnSpPr>
          <p:cNvPr id="45" name="ledger to evaluation 1"/>
          <p:cNvCxnSpPr/>
          <p:nvPr/>
        </p:nvCxnSpPr>
        <p:spPr>
          <a:xfrm>
            <a:off x="1485900" y="6281928"/>
            <a:ext cx="0" cy="192024"/>
          </a:xfrm>
          <a:prstGeom prst="line">
            <a:avLst/>
          </a:prstGeom>
          <a:ln w="12700">
            <a:solidFill>
              <a:srgbClr val="6E7A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ledger to evaluation 2"/>
          <p:cNvCxnSpPr/>
          <p:nvPr/>
        </p:nvCxnSpPr>
        <p:spPr>
          <a:xfrm>
            <a:off x="1485900" y="6473952"/>
            <a:ext cx="9372600" cy="0"/>
          </a:xfrm>
          <a:prstGeom prst="line">
            <a:avLst/>
          </a:prstGeom>
          <a:ln w="12700">
            <a:solidFill>
              <a:srgbClr val="6E7A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ledger to evaluation 3"/>
          <p:cNvCxnSpPr/>
          <p:nvPr/>
        </p:nvCxnSpPr>
        <p:spPr>
          <a:xfrm flipV="1">
            <a:off x="10858500" y="6281928"/>
            <a:ext cx="0" cy="192024"/>
          </a:xfrm>
          <a:prstGeom prst="line">
            <a:avLst/>
          </a:prstGeom>
          <a:ln w="12700">
            <a:solidFill>
              <a:srgbClr val="6E7A8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label: cumulative EE per arm: the x-a"/>
          <p:cNvSpPr txBox="1"/>
          <p:nvPr/>
        </p:nvSpPr>
        <p:spPr>
          <a:xfrm>
            <a:off x="4206240" y="6291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>
                <a:solidFill>
                  <a:srgbClr val="5D686F"/>
                </a:solidFill>
                <a:latin typeface="Calibri"/>
              </a:rPr>
              <a:t>cumulative EE per arm: the x-axis of the headline figure</a:t>
            </a:r>
          </a:p>
        </p:txBody>
      </p:sp>
      <p:cxnSp>
        <p:nvCxnSpPr>
          <p:cNvPr id="49" name="sumo lane to ledger"/>
          <p:cNvCxnSpPr/>
          <p:nvPr/>
        </p:nvCxnSpPr>
        <p:spPr>
          <a:xfrm>
            <a:off x="1485900" y="2331720"/>
            <a:ext cx="0" cy="2578608"/>
          </a:xfrm>
          <a:prstGeom prst="line">
            <a:avLst/>
          </a:prstGeom>
          <a:ln w="12700">
            <a:solidFill>
              <a:srgbClr val="6E7A8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label: one ledger line per SUMO rollo"/>
          <p:cNvSpPr txBox="1"/>
          <p:nvPr/>
        </p:nvSpPr>
        <p:spPr>
          <a:xfrm>
            <a:off x="1559052" y="333756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5D686F"/>
                </a:solidFill>
                <a:latin typeface="Calibri"/>
              </a:rPr>
              <a:t>one ledger line per SUMO rollout</a:t>
            </a:r>
          </a:p>
        </p:txBody>
      </p:sp>
      <p:sp>
        <p:nvSpPr>
          <p:cNvPr id="51" name="Profile sampler"/>
          <p:cNvSpPr/>
          <p:nvPr/>
        </p:nvSpPr>
        <p:spPr>
          <a:xfrm>
            <a:off x="777240" y="886968"/>
            <a:ext cx="14173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B85C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27432"/>
          <a:lstStyle/>
          <a:p>
            <a:pPr algn="l"/>
            <a:r>
              <a:rPr sz="950" b="1">
                <a:solidFill>
                  <a:srgbClr val="1B2126"/>
                </a:solidFill>
                <a:latin typeface="Calibri"/>
              </a:rPr>
              <a:t>Profile sampler</a:t>
            </a:r>
          </a:p>
          <a:p>
            <a:pPr algn="l">
              <a:spcBef>
                <a:spcPts val="100"/>
              </a:spcBef>
            </a:pPr>
            <a:r>
              <a:rPr sz="750">
                <a:solidFill>
                  <a:srgbClr val="5D686F"/>
                </a:solidFill>
                <a:latin typeface="Calibri"/>
              </a:rPr>
              <a:t>demand_profiles.py</a:t>
            </a:r>
          </a:p>
          <a:p>
            <a:pPr algn="l">
              <a:spcBef>
                <a:spcPts val="100"/>
              </a:spcBef>
            </a:pPr>
            <a:r>
              <a:rPr sz="750">
                <a:solidFill>
                  <a:srgbClr val="5D686F"/>
                </a:solidFill>
                <a:latin typeface="Calibri"/>
              </a:rPr>
              <a:t>d_k, r_k on 5-min blocks</a:t>
            </a:r>
          </a:p>
          <a:p>
            <a:pPr algn="l">
              <a:spcBef>
                <a:spcPts val="100"/>
              </a:spcBef>
            </a:pPr>
            <a:r>
              <a:rPr sz="750">
                <a:solidFill>
                  <a:srgbClr val="5D686F"/>
                </a:solidFill>
                <a:latin typeface="Calibri"/>
              </a:rPr>
              <a:t>V 18 · T 30×3 · O 12×3</a:t>
            </a:r>
          </a:p>
        </p:txBody>
      </p:sp>
      <p:sp>
        <p:nvSpPr>
          <p:cNvPr id="52" name="SUMO scenario v2"/>
          <p:cNvSpPr/>
          <p:nvPr/>
        </p:nvSpPr>
        <p:spPr>
          <a:xfrm>
            <a:off x="2651760" y="886968"/>
            <a:ext cx="14173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B85C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27432"/>
          <a:lstStyle/>
          <a:p>
            <a:pPr algn="l"/>
            <a:r>
              <a:rPr sz="950" b="1">
                <a:solidFill>
                  <a:srgbClr val="1B2126"/>
                </a:solidFill>
                <a:latin typeface="Calibri"/>
              </a:rPr>
              <a:t>SUMO scenario v2</a:t>
            </a:r>
          </a:p>
          <a:p>
            <a:pPr algn="l">
              <a:spcBef>
                <a:spcPts val="100"/>
              </a:spcBef>
            </a:pPr>
            <a:r>
              <a:rPr sz="750">
                <a:solidFill>
                  <a:srgbClr val="5D686F"/>
                </a:solidFill>
                <a:latin typeface="Calibri"/>
              </a:rPr>
              <a:t>per-block flows, ramp arrivals</a:t>
            </a:r>
          </a:p>
          <a:p>
            <a:pPr algn="l">
              <a:spcBef>
                <a:spcPts val="100"/>
              </a:spcBef>
            </a:pPr>
            <a:r>
              <a:rPr sz="750">
                <a:solidFill>
                  <a:srgbClr val="5D686F"/>
                </a:solidFill>
                <a:latin typeface="Calibri"/>
              </a:rPr>
              <a:t>occupancy density</a:t>
            </a:r>
          </a:p>
          <a:p>
            <a:pPr algn="l">
              <a:spcBef>
                <a:spcPts val="100"/>
              </a:spcBef>
            </a:pPr>
            <a:r>
              <a:rPr sz="750">
                <a:solidFill>
                  <a:srgbClr val="5D686F"/>
                </a:solidFill>
                <a:latin typeface="Calibri"/>
              </a:rPr>
              <a:t>labels incl. exact outflow</a:t>
            </a:r>
          </a:p>
        </p:txBody>
      </p:sp>
      <p:sp>
        <p:nvSpPr>
          <p:cNvPr id="53" name="badge 480 EE"/>
          <p:cNvSpPr/>
          <p:nvPr/>
        </p:nvSpPr>
        <p:spPr>
          <a:xfrm>
            <a:off x="3509467" y="786384"/>
            <a:ext cx="486460" cy="201168"/>
          </a:xfrm>
          <a:prstGeom prst="roundRect">
            <a:avLst>
              <a:gd name="adj" fmla="val 50000"/>
            </a:avLst>
          </a:prstGeom>
          <a:solidFill>
            <a:srgbClr val="FBEBDD"/>
          </a:solidFill>
          <a:ln w="9525">
            <a:solidFill>
              <a:srgbClr val="B85C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8F4406"/>
                </a:solidFill>
                <a:latin typeface="Calibri"/>
              </a:rPr>
              <a:t>480 EE</a:t>
            </a:r>
          </a:p>
        </p:txBody>
      </p:sp>
      <p:sp>
        <p:nvSpPr>
          <p:cNvPr id="54" name="Rollout store (npz)"/>
          <p:cNvSpPr/>
          <p:nvPr/>
        </p:nvSpPr>
        <p:spPr>
          <a:xfrm>
            <a:off x="4526280" y="886968"/>
            <a:ext cx="14173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B85C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27432"/>
          <a:lstStyle/>
          <a:p>
            <a:pPr algn="l"/>
            <a:r>
              <a:rPr sz="950" b="1">
                <a:solidFill>
                  <a:srgbClr val="1B2126"/>
                </a:solidFill>
                <a:latin typeface="Calibri"/>
              </a:rPr>
              <a:t>Rollout store (npz)</a:t>
            </a:r>
          </a:p>
          <a:p>
            <a:pPr algn="l">
              <a:spcBef>
                <a:spcPts val="100"/>
              </a:spcBef>
            </a:pPr>
            <a:r>
              <a:rPr sz="750">
                <a:solidFill>
                  <a:srgbClr val="5D686F"/>
                </a:solidFill>
                <a:latin typeface="Calibri"/>
              </a:rPr>
              <a:t>ρ, q_out, d, r, q_r, Q per step</a:t>
            </a:r>
          </a:p>
          <a:p>
            <a:pPr algn="l">
              <a:spcBef>
                <a:spcPts val="100"/>
              </a:spcBef>
            </a:pPr>
            <a:r>
              <a:rPr sz="750">
                <a:solidFill>
                  <a:srgbClr val="5D686F"/>
                </a:solidFill>
                <a:latin typeface="Calibri"/>
              </a:rPr>
              <a:t>round 0 + rounds 1…R</a:t>
            </a:r>
          </a:p>
          <a:p>
            <a:pPr algn="l">
              <a:spcBef>
                <a:spcPts val="100"/>
              </a:spcBef>
            </a:pPr>
            <a:r>
              <a:rPr sz="750">
                <a:solidFill>
                  <a:srgbClr val="5D686F"/>
                </a:solidFill>
                <a:latin typeface="Calibri"/>
              </a:rPr>
              <a:t>split 70 / 15 / 15</a:t>
            </a:r>
          </a:p>
        </p:txBody>
      </p:sp>
      <p:sp>
        <p:nvSpPr>
          <p:cNvPr id="55" name="Validation rollouts"/>
          <p:cNvSpPr/>
          <p:nvPr/>
        </p:nvSpPr>
        <p:spPr>
          <a:xfrm>
            <a:off x="6400800" y="886968"/>
            <a:ext cx="14173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B85C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27432"/>
          <a:lstStyle/>
          <a:p>
            <a:pPr algn="l"/>
            <a:r>
              <a:rPr sz="950" b="1">
                <a:solidFill>
                  <a:srgbClr val="1B2126"/>
                </a:solidFill>
                <a:latin typeface="Calibri"/>
              </a:rPr>
              <a:t>Validation rollouts</a:t>
            </a:r>
          </a:p>
          <a:p>
            <a:pPr algn="l">
              <a:spcBef>
                <a:spcPts val="100"/>
              </a:spcBef>
            </a:pPr>
            <a:r>
              <a:rPr sz="750">
                <a:solidFill>
                  <a:srgbClr val="5D686F"/>
                </a:solidFill>
                <a:latin typeface="Calibri"/>
              </a:rPr>
              <a:t>top-3 ckpts × 18 V profiles</a:t>
            </a:r>
          </a:p>
          <a:p>
            <a:pPr algn="l">
              <a:spcBef>
                <a:spcPts val="100"/>
              </a:spcBef>
            </a:pPr>
            <a:r>
              <a:rPr sz="750">
                <a:solidFill>
                  <a:srgbClr val="5D686F"/>
                </a:solidFill>
                <a:latin typeface="Calibri"/>
              </a:rPr>
              <a:t>SUMO return = transfer test</a:t>
            </a:r>
          </a:p>
          <a:p>
            <a:pPr algn="l">
              <a:spcBef>
                <a:spcPts val="100"/>
              </a:spcBef>
            </a:pPr>
            <a:r>
              <a:rPr sz="750">
                <a:solidFill>
                  <a:srgbClr val="5D686F"/>
                </a:solidFill>
                <a:latin typeface="Calibri"/>
              </a:rPr>
              <a:t>and new on-policy data</a:t>
            </a:r>
          </a:p>
        </p:txBody>
      </p:sp>
      <p:sp>
        <p:nvSpPr>
          <p:cNvPr id="56" name="badge 54 EE / round"/>
          <p:cNvSpPr/>
          <p:nvPr/>
        </p:nvSpPr>
        <p:spPr>
          <a:xfrm>
            <a:off x="6861657" y="786384"/>
            <a:ext cx="883310" cy="201168"/>
          </a:xfrm>
          <a:prstGeom prst="roundRect">
            <a:avLst>
              <a:gd name="adj" fmla="val 50000"/>
            </a:avLst>
          </a:prstGeom>
          <a:solidFill>
            <a:srgbClr val="FBEBDD"/>
          </a:solidFill>
          <a:ln w="9525">
            <a:solidFill>
              <a:srgbClr val="B85C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8F4406"/>
                </a:solidFill>
                <a:latin typeface="Calibri"/>
              </a:rPr>
              <a:t>54 EE / round</a:t>
            </a:r>
          </a:p>
        </p:txBody>
      </p:sp>
      <p:sp>
        <p:nvSpPr>
          <p:cNvPr id="57" name="SUMO fine-tune (A2)"/>
          <p:cNvSpPr/>
          <p:nvPr/>
        </p:nvSpPr>
        <p:spPr>
          <a:xfrm>
            <a:off x="8275320" y="886968"/>
            <a:ext cx="14173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B85C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27432"/>
          <a:lstStyle/>
          <a:p>
            <a:pPr algn="l"/>
            <a:r>
              <a:rPr sz="950" b="1">
                <a:solidFill>
                  <a:srgbClr val="1B2126"/>
                </a:solidFill>
                <a:latin typeface="Calibri"/>
              </a:rPr>
              <a:t>SUMO fine-tune (A2)</a:t>
            </a:r>
          </a:p>
          <a:p>
            <a:pPr algn="l">
              <a:spcBef>
                <a:spcPts val="100"/>
              </a:spcBef>
            </a:pPr>
            <a:r>
              <a:rPr sz="750">
                <a:solidFill>
                  <a:srgbClr val="5D686F"/>
                </a:solidFill>
                <a:latin typeface="Calibri"/>
              </a:rPr>
              <a:t>optional; A0 / A1 skip it</a:t>
            </a:r>
          </a:p>
          <a:p>
            <a:pPr algn="l">
              <a:spcBef>
                <a:spcPts val="100"/>
              </a:spcBef>
            </a:pPr>
            <a:r>
              <a:rPr sz="750">
                <a:solidFill>
                  <a:srgbClr val="5D686F"/>
                </a:solidFill>
                <a:latin typeface="Calibri"/>
              </a:rPr>
              <a:t>PPO.load, lr 3e-5</a:t>
            </a:r>
          </a:p>
          <a:p>
            <a:pPr algn="l">
              <a:spcBef>
                <a:spcPts val="100"/>
              </a:spcBef>
            </a:pPr>
            <a:r>
              <a:rPr sz="750">
                <a:solidFill>
                  <a:srgbClr val="5D686F"/>
                </a:solidFill>
                <a:latin typeface="Calibri"/>
              </a:rPr>
              <a:t>target_kl 0.01</a:t>
            </a:r>
          </a:p>
        </p:txBody>
      </p:sp>
      <p:sp>
        <p:nvSpPr>
          <p:cNvPr id="58" name="badge 100–200 EE"/>
          <p:cNvSpPr/>
          <p:nvPr/>
        </p:nvSpPr>
        <p:spPr>
          <a:xfrm>
            <a:off x="8906256" y="786384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FBEBDD"/>
          </a:solidFill>
          <a:ln w="9525">
            <a:solidFill>
              <a:srgbClr val="B85C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8F4406"/>
                </a:solidFill>
                <a:latin typeface="Calibri"/>
              </a:rPr>
              <a:t>100–200 EE</a:t>
            </a:r>
          </a:p>
        </p:txBody>
      </p:sp>
      <p:sp>
        <p:nvSpPr>
          <p:cNvPr id="59" name="Behaviour mixture"/>
          <p:cNvSpPr/>
          <p:nvPr/>
        </p:nvSpPr>
        <p:spPr>
          <a:xfrm>
            <a:off x="2651760" y="2898648"/>
            <a:ext cx="14173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C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27432"/>
          <a:lstStyle/>
          <a:p>
            <a:pPr algn="l"/>
            <a:r>
              <a:rPr sz="950" b="1">
                <a:solidFill>
                  <a:srgbClr val="1B2126"/>
                </a:solidFill>
                <a:latin typeface="Calibri"/>
              </a:rPr>
              <a:t>Behaviour mixture</a:t>
            </a:r>
          </a:p>
          <a:p>
            <a:pPr algn="l">
              <a:spcBef>
                <a:spcPts val="100"/>
              </a:spcBef>
            </a:pPr>
            <a:r>
              <a:rPr sz="750">
                <a:solidFill>
                  <a:srgbClr val="5D686F"/>
                </a:solidFill>
                <a:latin typeface="Calibri"/>
              </a:rPr>
              <a:t>const u 20 % · ALINEA 25 %</a:t>
            </a:r>
          </a:p>
          <a:p>
            <a:pPr algn="l">
              <a:spcBef>
                <a:spcPts val="100"/>
              </a:spcBef>
            </a:pPr>
            <a:r>
              <a:rPr sz="750">
                <a:solidFill>
                  <a:srgbClr val="5D686F"/>
                </a:solidFill>
                <a:latin typeface="Calibri"/>
              </a:rPr>
              <a:t>store-flush 20 % · run-7 15 %</a:t>
            </a:r>
          </a:p>
          <a:p>
            <a:pPr algn="l">
              <a:spcBef>
                <a:spcPts val="100"/>
              </a:spcBef>
            </a:pPr>
            <a:r>
              <a:rPr sz="750">
                <a:solidFill>
                  <a:srgbClr val="5D686F"/>
                </a:solidFill>
                <a:latin typeface="Calibri"/>
              </a:rPr>
              <a:t>random signals 20 %</a:t>
            </a:r>
          </a:p>
        </p:txBody>
      </p:sp>
      <p:sp>
        <p:nvSpPr>
          <p:cNvPr id="60" name="DeepONet ensemble"/>
          <p:cNvSpPr/>
          <p:nvPr/>
        </p:nvSpPr>
        <p:spPr>
          <a:xfrm>
            <a:off x="4526280" y="2898648"/>
            <a:ext cx="14173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C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27432"/>
          <a:lstStyle/>
          <a:p>
            <a:pPr algn="l"/>
            <a:r>
              <a:rPr sz="950" b="1">
                <a:solidFill>
                  <a:srgbClr val="1B2126"/>
                </a:solidFill>
                <a:latin typeface="Calibri"/>
              </a:rPr>
              <a:t>DeepONet ensemble</a:t>
            </a:r>
          </a:p>
          <a:p>
            <a:pPr algn="l">
              <a:spcBef>
                <a:spcPts val="100"/>
              </a:spcBef>
            </a:pPr>
            <a:r>
              <a:rPr sz="750">
                <a:solidFill>
                  <a:srgbClr val="5D686F"/>
                </a:solidFill>
                <a:latin typeface="Calibri"/>
              </a:rPr>
              <a:t>5 members, bootstrap</a:t>
            </a:r>
          </a:p>
          <a:p>
            <a:pPr algn="l">
              <a:spcBef>
                <a:spcPts val="100"/>
              </a:spcBef>
            </a:pPr>
            <a:r>
              <a:rPr sz="750">
                <a:solidFill>
                  <a:srgbClr val="5D686F"/>
                </a:solidFill>
                <a:latin typeface="Calibri"/>
              </a:rPr>
              <a:t>causal branch → ρ̂, q̂</a:t>
            </a:r>
          </a:p>
          <a:p>
            <a:pPr algn="l">
              <a:spcBef>
                <a:spcPts val="100"/>
              </a:spcBef>
            </a:pPr>
            <a:r>
              <a:rPr sz="750">
                <a:solidFill>
                  <a:srgbClr val="5D686F"/>
                </a:solidFill>
                <a:latin typeface="Calibri"/>
              </a:rPr>
              <a:t>fine-tune 20 epochs / round</a:t>
            </a:r>
          </a:p>
        </p:txBody>
      </p:sp>
      <p:sp>
        <p:nvSpPr>
          <p:cNvPr id="61" name="SurrogateEnv v2"/>
          <p:cNvSpPr/>
          <p:nvPr/>
        </p:nvSpPr>
        <p:spPr>
          <a:xfrm>
            <a:off x="6400800" y="2898648"/>
            <a:ext cx="14173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C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27432"/>
          <a:lstStyle/>
          <a:p>
            <a:pPr algn="l"/>
            <a:r>
              <a:rPr sz="950" b="1">
                <a:solidFill>
                  <a:srgbClr val="1B2126"/>
                </a:solidFill>
                <a:latin typeface="Calibri"/>
              </a:rPr>
              <a:t>SurrogateEnv v2</a:t>
            </a:r>
          </a:p>
          <a:p>
            <a:pPr algn="l">
              <a:spcBef>
                <a:spcPts val="100"/>
              </a:spcBef>
            </a:pPr>
            <a:r>
              <a:rPr sz="750">
                <a:solidFill>
                  <a:srgbClr val="5D686F"/>
                </a:solidFill>
                <a:latin typeface="Calibri"/>
              </a:rPr>
              <a:t>16 batched episodes</a:t>
            </a:r>
          </a:p>
          <a:p>
            <a:pPr algn="l">
              <a:spcBef>
                <a:spcPts val="100"/>
              </a:spcBef>
            </a:pPr>
            <a:r>
              <a:rPr sz="750">
                <a:solidFill>
                  <a:srgbClr val="5D686F"/>
                </a:solidFill>
                <a:latin typeface="Calibri"/>
              </a:rPr>
              <a:t>member sampled at reset</a:t>
            </a:r>
          </a:p>
          <a:p>
            <a:pPr algn="l">
              <a:spcBef>
                <a:spcPts val="100"/>
              </a:spcBef>
            </a:pPr>
            <a:r>
              <a:rPr sz="750">
                <a:solidFill>
                  <a:srgbClr val="5D686F"/>
                </a:solidFill>
                <a:latin typeface="Calibri"/>
              </a:rPr>
              <a:t>queue → q_r; ρ̂, q̂ → obs, reward</a:t>
            </a:r>
          </a:p>
        </p:txBody>
      </p:sp>
      <p:sp>
        <p:nvSpPr>
          <p:cNvPr id="62" name="PPO"/>
          <p:cNvSpPr/>
          <p:nvPr/>
        </p:nvSpPr>
        <p:spPr>
          <a:xfrm>
            <a:off x="8275320" y="2898648"/>
            <a:ext cx="14173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C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27432"/>
          <a:lstStyle/>
          <a:p>
            <a:pPr algn="l"/>
            <a:r>
              <a:rPr sz="950" b="1">
                <a:solidFill>
                  <a:srgbClr val="1B2126"/>
                </a:solidFill>
                <a:latin typeface="Calibri"/>
              </a:rPr>
              <a:t>PPO</a:t>
            </a:r>
          </a:p>
          <a:p>
            <a:pPr algn="l">
              <a:spcBef>
                <a:spcPts val="100"/>
              </a:spcBef>
            </a:pPr>
            <a:r>
              <a:rPr sz="750">
                <a:solidFill>
                  <a:srgbClr val="5D686F"/>
                </a:solidFill>
                <a:latin typeface="Calibri"/>
              </a:rPr>
              <a:t>ppo_common.yaml</a:t>
            </a:r>
          </a:p>
          <a:p>
            <a:pPr algn="l">
              <a:spcBef>
                <a:spcPts val="100"/>
              </a:spcBef>
            </a:pPr>
            <a:r>
              <a:rPr sz="750">
                <a:solidFill>
                  <a:srgbClr val="5D686F"/>
                </a:solidFill>
                <a:latin typeface="Calibri"/>
              </a:rPr>
              <a:t>≤ 1M steps / round</a:t>
            </a:r>
          </a:p>
          <a:p>
            <a:pPr algn="l">
              <a:spcBef>
                <a:spcPts val="100"/>
              </a:spcBef>
            </a:pPr>
            <a:r>
              <a:rPr sz="750">
                <a:solidFill>
                  <a:srgbClr val="5D686F"/>
                </a:solidFill>
                <a:latin typeface="Calibri"/>
              </a:rPr>
              <a:t>ends at surrogate-return plateau</a:t>
            </a:r>
          </a:p>
        </p:txBody>
      </p:sp>
      <p:sp>
        <p:nvSpPr>
          <p:cNvPr id="63" name="Ledger"/>
          <p:cNvSpPr/>
          <p:nvPr/>
        </p:nvSpPr>
        <p:spPr>
          <a:xfrm>
            <a:off x="777240" y="4910328"/>
            <a:ext cx="1417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5B4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27432"/>
          <a:lstStyle/>
          <a:p>
            <a:pPr algn="l"/>
            <a:r>
              <a:rPr sz="950" b="1">
                <a:solidFill>
                  <a:srgbClr val="1B2126"/>
                </a:solidFill>
                <a:latin typeface="Calibri"/>
              </a:rPr>
              <a:t>Ledger</a:t>
            </a:r>
          </a:p>
          <a:p>
            <a:pPr algn="l">
              <a:spcBef>
                <a:spcPts val="100"/>
              </a:spcBef>
            </a:pPr>
            <a:r>
              <a:rPr sz="750">
                <a:solidFill>
                  <a:srgbClr val="5D686F"/>
                </a:solidFill>
                <a:latin typeface="Calibri"/>
              </a:rPr>
              <a:t>ledger/&lt;study&gt;.jsonl</a:t>
            </a:r>
          </a:p>
          <a:p>
            <a:pPr algn="l">
              <a:spcBef>
                <a:spcPts val="100"/>
              </a:spcBef>
            </a:pPr>
            <a:r>
              <a:rPr sz="750">
                <a:solidFill>
                  <a:srgbClr val="5D686F"/>
                </a:solidFill>
                <a:latin typeface="Calibri"/>
              </a:rPr>
              <a:t>purpose-tagged lines:</a:t>
            </a:r>
          </a:p>
          <a:p>
            <a:pPr algn="l">
              <a:spcBef>
                <a:spcPts val="100"/>
              </a:spcBef>
            </a:pPr>
            <a:r>
              <a:rPr sz="750">
                <a:solidFill>
                  <a:srgbClr val="5D686F"/>
                </a:solidFill>
                <a:latin typeface="Calibri"/>
              </a:rPr>
              <a:t>dataset, aggregation, finetune,</a:t>
            </a:r>
          </a:p>
          <a:p>
            <a:pPr algn="l">
              <a:spcBef>
                <a:spcPts val="100"/>
              </a:spcBef>
            </a:pPr>
            <a:r>
              <a:rPr sz="750">
                <a:solidFill>
                  <a:srgbClr val="5D686F"/>
                </a:solidFill>
                <a:latin typeface="Calibri"/>
              </a:rPr>
              <a:t>direct_ppo, tuning, eval_*</a:t>
            </a:r>
          </a:p>
          <a:p>
            <a:pPr algn="l">
              <a:spcBef>
                <a:spcPts val="100"/>
              </a:spcBef>
            </a:pPr>
            <a:r>
              <a:rPr sz="750">
                <a:solidFill>
                  <a:srgbClr val="5D686F"/>
                </a:solidFill>
                <a:latin typeface="Calibri"/>
              </a:rPr>
              <a:t>budget = all but eval_test / ood</a:t>
            </a:r>
          </a:p>
        </p:txBody>
      </p:sp>
      <p:sp>
        <p:nvSpPr>
          <p:cNvPr id="64" name="Reference arms"/>
          <p:cNvSpPr/>
          <p:nvPr/>
        </p:nvSpPr>
        <p:spPr>
          <a:xfrm>
            <a:off x="8275320" y="4910328"/>
            <a:ext cx="14173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5B4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27432"/>
          <a:lstStyle/>
          <a:p>
            <a:pPr algn="l"/>
            <a:r>
              <a:rPr sz="950" b="1">
                <a:solidFill>
                  <a:srgbClr val="1B2126"/>
                </a:solidFill>
                <a:latin typeface="Calibri"/>
              </a:rPr>
              <a:t>Reference arms</a:t>
            </a:r>
          </a:p>
          <a:p>
            <a:pPr algn="l">
              <a:spcBef>
                <a:spcPts val="100"/>
              </a:spcBef>
            </a:pPr>
            <a:r>
              <a:rPr sz="750">
                <a:solidFill>
                  <a:srgbClr val="5D686F"/>
                </a:solidFill>
                <a:latin typeface="Calibri"/>
              </a:rPr>
              <a:t>direct PPO 200 / 700 / 2000</a:t>
            </a:r>
          </a:p>
          <a:p>
            <a:pPr algn="l">
              <a:spcBef>
                <a:spcPts val="100"/>
              </a:spcBef>
            </a:pPr>
            <a:r>
              <a:rPr sz="750">
                <a:solidFill>
                  <a:srgbClr val="5D686F"/>
                </a:solidFill>
                <a:latin typeface="Calibri"/>
              </a:rPr>
              <a:t>ALINEA ≈300 · const u 21</a:t>
            </a:r>
          </a:p>
        </p:txBody>
      </p:sp>
      <p:sp>
        <p:nvSpPr>
          <p:cNvPr id="65" name="badge ≈ 9 000 EE"/>
          <p:cNvSpPr/>
          <p:nvPr/>
        </p:nvSpPr>
        <p:spPr>
          <a:xfrm>
            <a:off x="8906256" y="4809744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FBEBDD"/>
          </a:solidFill>
          <a:ln w="9525">
            <a:solidFill>
              <a:srgbClr val="B85C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8F4406"/>
                </a:solidFill>
                <a:latin typeface="Calibri"/>
              </a:rPr>
              <a:t>≈ 9 000 EE</a:t>
            </a:r>
          </a:p>
        </p:txBody>
      </p:sp>
      <p:sp>
        <p:nvSpPr>
          <p:cNvPr id="66" name="Surrogate baselines"/>
          <p:cNvSpPr/>
          <p:nvPr/>
        </p:nvSpPr>
        <p:spPr>
          <a:xfrm>
            <a:off x="8275320" y="5641848"/>
            <a:ext cx="14173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5B4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27432"/>
          <a:lstStyle/>
          <a:p>
            <a:pPr algn="l"/>
            <a:r>
              <a:rPr sz="950" b="1">
                <a:solidFill>
                  <a:srgbClr val="1B2126"/>
                </a:solidFill>
                <a:latin typeface="Calibri"/>
              </a:rPr>
              <a:t>Surrogate baselines</a:t>
            </a:r>
          </a:p>
          <a:p>
            <a:pPr algn="l">
              <a:spcBef>
                <a:spcPts val="100"/>
              </a:spcBef>
            </a:pPr>
            <a:r>
              <a:rPr sz="750">
                <a:solidFill>
                  <a:srgbClr val="5D686F"/>
                </a:solidFill>
                <a:latin typeface="Calibri"/>
              </a:rPr>
              <a:t>Surrogate-MPC, H = 10 min</a:t>
            </a:r>
          </a:p>
          <a:p>
            <a:pPr algn="l">
              <a:spcBef>
                <a:spcPts val="100"/>
              </a:spcBef>
            </a:pPr>
            <a:r>
              <a:rPr sz="750">
                <a:solidFill>
                  <a:srgbClr val="5D686F"/>
                </a:solidFill>
                <a:latin typeface="Calibri"/>
              </a:rPr>
              <a:t>one-step model · M = 1</a:t>
            </a:r>
          </a:p>
        </p:txBody>
      </p:sp>
      <p:sp>
        <p:nvSpPr>
          <p:cNvPr id="67" name="badge 0 EE"/>
          <p:cNvSpPr/>
          <p:nvPr/>
        </p:nvSpPr>
        <p:spPr>
          <a:xfrm>
            <a:off x="9246412" y="5541264"/>
            <a:ext cx="373075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8C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5D686F"/>
                </a:solidFill>
                <a:latin typeface="Calibri"/>
              </a:rPr>
              <a:t>0 EE</a:t>
            </a:r>
          </a:p>
        </p:txBody>
      </p:sp>
      <p:sp>
        <p:nvSpPr>
          <p:cNvPr id="68" name="Final evaluation"/>
          <p:cNvSpPr/>
          <p:nvPr/>
        </p:nvSpPr>
        <p:spPr>
          <a:xfrm>
            <a:off x="10149840" y="4910328"/>
            <a:ext cx="1417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5B4F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bIns="27432"/>
          <a:lstStyle/>
          <a:p>
            <a:pPr algn="l"/>
            <a:r>
              <a:rPr sz="950" b="1">
                <a:solidFill>
                  <a:srgbClr val="1B2126"/>
                </a:solidFill>
                <a:latin typeface="Calibri"/>
              </a:rPr>
              <a:t>Final evaluation</a:t>
            </a:r>
          </a:p>
          <a:p>
            <a:pPr algn="l">
              <a:spcBef>
                <a:spcPts val="100"/>
              </a:spcBef>
            </a:pPr>
            <a:r>
              <a:rPr sz="750">
                <a:solidFill>
                  <a:srgbClr val="5D686F"/>
                </a:solidFill>
                <a:latin typeface="Calibri"/>
              </a:rPr>
              <a:t>T: 30 profiles × 3 seeds</a:t>
            </a:r>
          </a:p>
          <a:p>
            <a:pPr algn="l">
              <a:spcBef>
                <a:spcPts val="100"/>
              </a:spcBef>
            </a:pPr>
            <a:r>
              <a:rPr sz="750">
                <a:solidFill>
                  <a:srgbClr val="5D686F"/>
                </a:solidFill>
                <a:latin typeface="Calibri"/>
              </a:rPr>
              <a:t>O: 12 OOD profiles × 3</a:t>
            </a:r>
          </a:p>
          <a:p>
            <a:pPr algn="l">
              <a:spcBef>
                <a:spcPts val="100"/>
              </a:spcBef>
            </a:pPr>
            <a:r>
              <a:rPr sz="750">
                <a:solidFill>
                  <a:srgbClr val="5D686F"/>
                </a:solidFill>
                <a:latin typeface="Calibri"/>
              </a:rPr>
              <a:t>return, TTS, breakdown, p10</a:t>
            </a:r>
          </a:p>
          <a:p>
            <a:pPr algn="l">
              <a:spcBef>
                <a:spcPts val="100"/>
              </a:spcBef>
            </a:pPr>
            <a:r>
              <a:rPr sz="750">
                <a:solidFill>
                  <a:srgbClr val="5D686F"/>
                </a:solidFill>
                <a:latin typeface="Calibri"/>
              </a:rPr>
              <a:t>paired, bootstrap 95 % CI</a:t>
            </a:r>
          </a:p>
          <a:p>
            <a:pPr algn="l">
              <a:spcBef>
                <a:spcPts val="100"/>
              </a:spcBef>
            </a:pPr>
            <a:r>
              <a:rPr sz="750">
                <a:solidFill>
                  <a:srgbClr val="5D686F"/>
                </a:solidFill>
                <a:latin typeface="Calibri"/>
              </a:rPr>
              <a:t>→ Figs 1–7, tables</a:t>
            </a:r>
          </a:p>
        </p:txBody>
      </p:sp>
      <p:sp>
        <p:nvSpPr>
          <p:cNvPr id="69" name="badge 126 EE / policy"/>
          <p:cNvSpPr/>
          <p:nvPr/>
        </p:nvSpPr>
        <p:spPr>
          <a:xfrm>
            <a:off x="10497312" y="4809744"/>
            <a:ext cx="996695" cy="201168"/>
          </a:xfrm>
          <a:prstGeom prst="roundRect">
            <a:avLst>
              <a:gd name="adj" fmla="val 50000"/>
            </a:avLst>
          </a:prstGeom>
          <a:solidFill>
            <a:srgbClr val="FBEBDD"/>
          </a:solidFill>
          <a:ln w="9525">
            <a:solidFill>
              <a:srgbClr val="B85C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8F4406"/>
                </a:solidFill>
                <a:latin typeface="Calibri"/>
              </a:rPr>
              <a:t>126 EE / policy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