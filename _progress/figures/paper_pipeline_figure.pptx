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6547104" cy="315468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(a) SUMO plant"/>
          <p:cNvSpPr/>
          <p:nvPr/>
        </p:nvSpPr>
        <p:spPr>
          <a:xfrm>
            <a:off x="109728" y="274320"/>
            <a:ext cx="1572768" cy="1691640"/>
          </a:xfrm>
          <a:prstGeom prst="roundRect">
            <a:avLst>
              <a:gd name="adj" fmla="val 5000"/>
            </a:avLst>
          </a:prstGeom>
          <a:solidFill>
            <a:srgbClr val="FCF3EA"/>
          </a:solidFill>
          <a:ln w="12700">
            <a:solidFill>
              <a:srgbClr val="B85C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41148" bIns="27432"/>
          <a:lstStyle/>
          <a:p>
            <a:pPr algn="l"/>
            <a:r>
              <a:rPr sz="800" b="1" i="0">
                <a:solidFill>
                  <a:srgbClr val="1B2126"/>
                </a:solidFill>
                <a:latin typeface="Arial"/>
              </a:rPr>
              <a:t>(a) SUMO plant</a:t>
            </a:r>
          </a:p>
        </p:txBody>
      </p:sp>
      <p:sp>
        <p:nvSpPr>
          <p:cNvPr id="3" name="sketch axes"/>
          <p:cNvSpPr/>
          <p:nvPr/>
        </p:nvSpPr>
        <p:spPr>
          <a:xfrm>
            <a:off x="256032" y="667512"/>
            <a:ext cx="1234440" cy="502920"/>
          </a:xfrm>
          <a:custGeom>
            <a:avLst/>
            <a:gdLst/>
            <a:ahLst/>
            <a:cxnLst/>
            <a:rect l="l" t="t" r="r" b="b"/>
            <a:pathLst>
              <a:path w="1234440" h="502920">
                <a:moveTo>
                  <a:pt x="0" y="0"/>
                </a:moveTo>
                <a:lnTo>
                  <a:pt x="0" y="502920"/>
                </a:lnTo>
                <a:lnTo>
                  <a:pt x="1234440" y="502920"/>
                </a:lnTo>
              </a:path>
            </a:pathLst>
          </a:custGeom>
          <a:noFill/>
          <a:ln w="7620">
            <a:solidFill>
              <a:srgbClr val="555F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ketch d(t)"/>
          <p:cNvSpPr/>
          <p:nvPr/>
        </p:nvSpPr>
        <p:spPr>
          <a:xfrm>
            <a:off x="256032" y="717803"/>
            <a:ext cx="1234440" cy="276606"/>
          </a:xfrm>
          <a:custGeom>
            <a:avLst/>
            <a:gdLst/>
            <a:ahLst/>
            <a:cxnLst/>
            <a:rect l="l" t="t" r="r" b="b"/>
            <a:pathLst>
              <a:path w="1234440" h="276606">
                <a:moveTo>
                  <a:pt x="0" y="276606"/>
                </a:moveTo>
                <a:lnTo>
                  <a:pt x="102870" y="276606"/>
                </a:lnTo>
                <a:lnTo>
                  <a:pt x="102870" y="276606"/>
                </a:lnTo>
                <a:lnTo>
                  <a:pt x="205740" y="276606"/>
                </a:lnTo>
                <a:lnTo>
                  <a:pt x="205740" y="276606"/>
                </a:lnTo>
                <a:lnTo>
                  <a:pt x="308610" y="276606"/>
                </a:lnTo>
                <a:lnTo>
                  <a:pt x="308610" y="226315"/>
                </a:lnTo>
                <a:lnTo>
                  <a:pt x="411480" y="226315"/>
                </a:lnTo>
                <a:lnTo>
                  <a:pt x="411480" y="0"/>
                </a:lnTo>
                <a:lnTo>
                  <a:pt x="514350" y="0"/>
                </a:lnTo>
                <a:lnTo>
                  <a:pt x="514350" y="0"/>
                </a:lnTo>
                <a:lnTo>
                  <a:pt x="617220" y="0"/>
                </a:lnTo>
                <a:lnTo>
                  <a:pt x="617220" y="226315"/>
                </a:lnTo>
                <a:lnTo>
                  <a:pt x="720089" y="226315"/>
                </a:lnTo>
                <a:lnTo>
                  <a:pt x="720089" y="276606"/>
                </a:lnTo>
                <a:lnTo>
                  <a:pt x="822960" y="276606"/>
                </a:lnTo>
                <a:lnTo>
                  <a:pt x="822960" y="276606"/>
                </a:lnTo>
                <a:lnTo>
                  <a:pt x="925830" y="276606"/>
                </a:lnTo>
                <a:lnTo>
                  <a:pt x="925830" y="276606"/>
                </a:lnTo>
                <a:lnTo>
                  <a:pt x="1028700" y="276606"/>
                </a:lnTo>
                <a:lnTo>
                  <a:pt x="1028700" y="276606"/>
                </a:lnTo>
                <a:lnTo>
                  <a:pt x="1131570" y="276606"/>
                </a:lnTo>
                <a:lnTo>
                  <a:pt x="1131570" y="276606"/>
                </a:lnTo>
                <a:lnTo>
                  <a:pt x="1234440" y="276606"/>
                </a:lnTo>
              </a:path>
            </a:pathLst>
          </a:custGeom>
          <a:noFill/>
          <a:ln w="13970">
            <a:solidFill>
              <a:srgbClr val="B85C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sketch r(t)"/>
          <p:cNvSpPr/>
          <p:nvPr/>
        </p:nvSpPr>
        <p:spPr>
          <a:xfrm>
            <a:off x="256032" y="959205"/>
            <a:ext cx="1234440" cy="150876"/>
          </a:xfrm>
          <a:custGeom>
            <a:avLst/>
            <a:gdLst/>
            <a:ahLst/>
            <a:cxnLst/>
            <a:rect l="l" t="t" r="r" b="b"/>
            <a:pathLst>
              <a:path w="1234440" h="150876">
                <a:moveTo>
                  <a:pt x="0" y="150876"/>
                </a:moveTo>
                <a:lnTo>
                  <a:pt x="102870" y="150876"/>
                </a:lnTo>
                <a:lnTo>
                  <a:pt x="102870" y="150876"/>
                </a:lnTo>
                <a:lnTo>
                  <a:pt x="205740" y="150876"/>
                </a:lnTo>
                <a:lnTo>
                  <a:pt x="205740" y="150876"/>
                </a:lnTo>
                <a:lnTo>
                  <a:pt x="308610" y="150876"/>
                </a:lnTo>
                <a:lnTo>
                  <a:pt x="308610" y="150876"/>
                </a:lnTo>
                <a:lnTo>
                  <a:pt x="411480" y="150876"/>
                </a:lnTo>
                <a:lnTo>
                  <a:pt x="411480" y="0"/>
                </a:lnTo>
                <a:lnTo>
                  <a:pt x="514350" y="0"/>
                </a:lnTo>
                <a:lnTo>
                  <a:pt x="514350" y="0"/>
                </a:lnTo>
                <a:lnTo>
                  <a:pt x="617220" y="0"/>
                </a:lnTo>
                <a:lnTo>
                  <a:pt x="617220" y="0"/>
                </a:lnTo>
                <a:lnTo>
                  <a:pt x="720089" y="0"/>
                </a:lnTo>
                <a:lnTo>
                  <a:pt x="720089" y="150876"/>
                </a:lnTo>
                <a:lnTo>
                  <a:pt x="822960" y="150876"/>
                </a:lnTo>
                <a:lnTo>
                  <a:pt x="822960" y="150876"/>
                </a:lnTo>
                <a:lnTo>
                  <a:pt x="925830" y="150876"/>
                </a:lnTo>
                <a:lnTo>
                  <a:pt x="925830" y="150876"/>
                </a:lnTo>
                <a:lnTo>
                  <a:pt x="1028700" y="150876"/>
                </a:lnTo>
                <a:lnTo>
                  <a:pt x="1028700" y="150876"/>
                </a:lnTo>
                <a:lnTo>
                  <a:pt x="1131570" y="150876"/>
                </a:lnTo>
                <a:lnTo>
                  <a:pt x="1131570" y="150876"/>
                </a:lnTo>
                <a:lnTo>
                  <a:pt x="1234440" y="150876"/>
                </a:lnTo>
              </a:path>
            </a:pathLst>
          </a:custGeom>
          <a:noFill/>
          <a:ln w="13970">
            <a:solidFill>
              <a:srgbClr val="1C7C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label: d(t)"/>
          <p:cNvSpPr txBox="1"/>
          <p:nvPr/>
        </p:nvSpPr>
        <p:spPr>
          <a:xfrm>
            <a:off x="822960" y="649224"/>
            <a:ext cx="457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650" b="1" i="0">
                <a:solidFill>
                  <a:srgbClr val="B85C14"/>
                </a:solidFill>
                <a:latin typeface="Arial"/>
              </a:rPr>
              <a:t>d(t)</a:t>
            </a:r>
          </a:p>
        </p:txBody>
      </p:sp>
      <p:sp>
        <p:nvSpPr>
          <p:cNvPr id="7" name="label: r(t)"/>
          <p:cNvSpPr txBox="1"/>
          <p:nvPr/>
        </p:nvSpPr>
        <p:spPr>
          <a:xfrm>
            <a:off x="1124712" y="923544"/>
            <a:ext cx="3657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650" b="1" i="0">
                <a:solidFill>
                  <a:srgbClr val="1C7C8A"/>
                </a:solidFill>
                <a:latin typeface="Arial"/>
              </a:rPr>
              <a:t>r(t)</a:t>
            </a:r>
          </a:p>
        </p:txBody>
      </p:sp>
      <p:sp>
        <p:nvSpPr>
          <p:cNvPr id="8" name="label: t"/>
          <p:cNvSpPr txBox="1"/>
          <p:nvPr/>
        </p:nvSpPr>
        <p:spPr>
          <a:xfrm>
            <a:off x="1261872" y="1188720"/>
            <a:ext cx="2743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650" b="0" i="1">
                <a:solidFill>
                  <a:srgbClr val="4A545B"/>
                </a:solidFill>
                <a:latin typeface="Arial"/>
              </a:rPr>
              <a:t>t</a:t>
            </a:r>
          </a:p>
        </p:txBody>
      </p:sp>
      <p:sp>
        <p:nvSpPr>
          <p:cNvPr id="9" name="label: time-varying demand on 5-min"/>
          <p:cNvSpPr txBox="1"/>
          <p:nvPr/>
        </p:nvSpPr>
        <p:spPr>
          <a:xfrm>
            <a:off x="182880" y="1261872"/>
            <a:ext cx="1444752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650" b="0" i="0">
                <a:solidFill>
                  <a:srgbClr val="4A545B"/>
                </a:solidFill>
                <a:latin typeface="Arial"/>
              </a:rPr>
              <a:t>time-varying demand on 5-min blocks</a:t>
            </a:r>
          </a:p>
        </p:txBody>
      </p:sp>
      <p:sp>
        <p:nvSpPr>
          <p:cNvPr id="10" name="label: metered ramp: virtual queue "/>
          <p:cNvSpPr txBox="1"/>
          <p:nvPr/>
        </p:nvSpPr>
        <p:spPr>
          <a:xfrm>
            <a:off x="182880" y="1426464"/>
            <a:ext cx="144475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650" b="0" i="0">
                <a:solidFill>
                  <a:srgbClr val="4A545B"/>
                </a:solidFill>
                <a:latin typeface="Arial"/>
              </a:rPr>
              <a:t>metered ramp: virtual queue Q_k, release u_k → q_r,k</a:t>
            </a:r>
          </a:p>
        </p:txBody>
      </p:sp>
      <p:sp>
        <p:nvSpPr>
          <p:cNvPr id="11" name="label: labels: density ρ(x,t), outf"/>
          <p:cNvSpPr txBox="1"/>
          <p:nvPr/>
        </p:nvSpPr>
        <p:spPr>
          <a:xfrm>
            <a:off x="182880" y="1691640"/>
            <a:ext cx="1444752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650" b="0" i="0">
                <a:solidFill>
                  <a:srgbClr val="4A545B"/>
                </a:solidFill>
                <a:latin typeface="Arial"/>
              </a:rPr>
              <a:t>labels: density ρ(x,t), outflow q(t)</a:t>
            </a:r>
          </a:p>
        </p:txBody>
      </p:sp>
      <p:sp>
        <p:nvSpPr>
          <p:cNvPr id="12" name="(b) DeepONet plant model"/>
          <p:cNvSpPr/>
          <p:nvPr/>
        </p:nvSpPr>
        <p:spPr>
          <a:xfrm>
            <a:off x="2029968" y="274320"/>
            <a:ext cx="1572768" cy="1691640"/>
          </a:xfrm>
          <a:prstGeom prst="roundRect">
            <a:avLst>
              <a:gd name="adj" fmla="val 5000"/>
            </a:avLst>
          </a:prstGeom>
          <a:solidFill>
            <a:srgbClr val="EAF4F5"/>
          </a:solidFill>
          <a:ln w="12700">
            <a:solidFill>
              <a:srgbClr val="1C7C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41148" bIns="27432"/>
          <a:lstStyle/>
          <a:p>
            <a:pPr algn="l"/>
            <a:r>
              <a:rPr sz="800" b="1" i="0">
                <a:solidFill>
                  <a:srgbClr val="1B2126"/>
                </a:solidFill>
                <a:latin typeface="Arial"/>
              </a:rPr>
              <a:t>(b) DeepONet plant model</a:t>
            </a:r>
          </a:p>
          <a:p>
            <a:pPr algn="l">
              <a:spcBef>
                <a:spcPts val="150"/>
              </a:spcBef>
            </a:pPr>
            <a:r>
              <a:rPr sz="700" b="0" i="0">
                <a:solidFill>
                  <a:srgbClr val="4A545B"/>
                </a:solidFill>
                <a:latin typeface="Arial"/>
              </a:rPr>
              <a:t>operator  G_θ : (d(·), q_r(·)) ↦ (ρ̂(x,t), q̂(x,t))</a:t>
            </a:r>
          </a:p>
          <a:p>
            <a:pPr algn="l">
              <a:spcBef>
                <a:spcPts val="150"/>
              </a:spcBef>
            </a:pPr>
            <a:r>
              <a:rPr sz="700" b="0" i="0">
                <a:solidFill>
                  <a:srgbClr val="4A545B"/>
                </a:solidFill>
                <a:latin typeface="Arial"/>
              </a:rPr>
              <a:t>branch: causal encoder over the inflow history</a:t>
            </a:r>
          </a:p>
          <a:p>
            <a:pPr algn="l">
              <a:spcBef>
                <a:spcPts val="150"/>
              </a:spcBef>
            </a:pPr>
            <a:r>
              <a:rPr sz="700" b="0" i="0">
                <a:solidFill>
                  <a:srgbClr val="4A545B"/>
                </a:solidFill>
                <a:latin typeface="Arial"/>
              </a:rPr>
              <a:t>trunk: (x, t); two output channels</a:t>
            </a:r>
          </a:p>
          <a:p>
            <a:pPr algn="l">
              <a:spcBef>
                <a:spcPts val="150"/>
              </a:spcBef>
            </a:pPr>
            <a:r>
              <a:rPr sz="700" b="0" i="0">
                <a:solidFill>
                  <a:srgbClr val="4A545B"/>
                </a:solidFill>
                <a:latin typeface="Arial"/>
              </a:rPr>
              <a:t>ensemble of M = 5, bootstrap resamples</a:t>
            </a:r>
          </a:p>
          <a:p>
            <a:pPr algn="l">
              <a:spcBef>
                <a:spcPts val="150"/>
              </a:spcBef>
            </a:pPr>
            <a:r>
              <a:rPr sz="700" b="0" i="0">
                <a:solidFill>
                  <a:srgbClr val="4A545B"/>
                </a:solidFill>
                <a:latin typeface="Arial"/>
              </a:rPr>
              <a:t>trained on D_0, fine-tuned each round</a:t>
            </a:r>
          </a:p>
        </p:txBody>
      </p:sp>
      <p:sp>
        <p:nvSpPr>
          <p:cNvPr id="13" name="(c) Surrogate environment"/>
          <p:cNvSpPr/>
          <p:nvPr/>
        </p:nvSpPr>
        <p:spPr>
          <a:xfrm>
            <a:off x="3950208" y="274320"/>
            <a:ext cx="1572768" cy="8412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1C7C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41148" bIns="27432"/>
          <a:lstStyle/>
          <a:p>
            <a:pPr algn="l"/>
            <a:r>
              <a:rPr sz="800" b="1" i="0">
                <a:solidFill>
                  <a:srgbClr val="1B2126"/>
                </a:solidFill>
                <a:latin typeface="Arial"/>
              </a:rPr>
              <a:t>(c) Surrogate environment</a:t>
            </a:r>
          </a:p>
          <a:p>
            <a:pPr algn="l">
              <a:spcBef>
                <a:spcPts val="150"/>
              </a:spcBef>
            </a:pPr>
            <a:r>
              <a:rPr sz="700" b="0" i="0">
                <a:solidFill>
                  <a:srgbClr val="4A545B"/>
                </a:solidFill>
                <a:latin typeface="Arial"/>
              </a:rPr>
              <a:t>profile sampler; analytic ramp queue u_k → q_r,k</a:t>
            </a:r>
          </a:p>
          <a:p>
            <a:pPr algn="l">
              <a:spcBef>
                <a:spcPts val="150"/>
              </a:spcBef>
            </a:pPr>
            <a:r>
              <a:rPr sz="700" b="0" i="0">
                <a:solidFill>
                  <a:srgbClr val="4A545B"/>
                </a:solidFill>
                <a:latin typeface="Arial"/>
              </a:rPr>
              <a:t>member m ~ U{1..M} per episode</a:t>
            </a:r>
          </a:p>
          <a:p>
            <a:pPr algn="l">
              <a:spcBef>
                <a:spcPts val="150"/>
              </a:spcBef>
            </a:pPr>
            <a:r>
              <a:rPr sz="700" b="0" i="0">
                <a:solidFill>
                  <a:srgbClr val="4A545B"/>
                </a:solidFill>
                <a:latin typeface="Arial"/>
              </a:rPr>
              <a:t>ρ̂(x_i, t_k), q̂_out,k  →  o_k, reward</a:t>
            </a:r>
          </a:p>
        </p:txBody>
      </p:sp>
      <p:sp>
        <p:nvSpPr>
          <p:cNvPr id="14" name="(d) PPO policy π_φ"/>
          <p:cNvSpPr/>
          <p:nvPr/>
        </p:nvSpPr>
        <p:spPr>
          <a:xfrm>
            <a:off x="3950208" y="1298448"/>
            <a:ext cx="1572768" cy="66751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1C7C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41148" bIns="27432"/>
          <a:lstStyle/>
          <a:p>
            <a:pPr algn="l"/>
            <a:r>
              <a:rPr sz="800" b="1" i="0">
                <a:solidFill>
                  <a:srgbClr val="1B2126"/>
                </a:solidFill>
                <a:latin typeface="Arial"/>
              </a:rPr>
              <a:t>(d) PPO policy π_φ</a:t>
            </a:r>
          </a:p>
          <a:p>
            <a:pPr algn="l">
              <a:spcBef>
                <a:spcPts val="150"/>
              </a:spcBef>
            </a:pPr>
            <a:r>
              <a:rPr sz="700" b="0" i="0">
                <a:solidFill>
                  <a:srgbClr val="4A545B"/>
                </a:solidFill>
                <a:latin typeface="Arial"/>
              </a:rPr>
              <a:t>same observation, reward and hyper-</a:t>
            </a:r>
          </a:p>
          <a:p>
            <a:pPr algn="l">
              <a:spcBef>
                <a:spcPts val="150"/>
              </a:spcBef>
            </a:pPr>
            <a:r>
              <a:rPr sz="700" b="0" i="0">
                <a:solidFill>
                  <a:srgbClr val="4A545B"/>
                </a:solidFill>
                <a:latin typeface="Arial"/>
              </a:rPr>
              <a:t>parameters as direct SUMO training</a:t>
            </a:r>
          </a:p>
        </p:txBody>
      </p:sp>
      <p:sp>
        <p:nvSpPr>
          <p:cNvPr id="15" name="(f) Held-out SUMO evaluation"/>
          <p:cNvSpPr/>
          <p:nvPr/>
        </p:nvSpPr>
        <p:spPr>
          <a:xfrm>
            <a:off x="3950208" y="2304288"/>
            <a:ext cx="2487168" cy="713232"/>
          </a:xfrm>
          <a:prstGeom prst="roundRect">
            <a:avLst>
              <a:gd name="adj" fmla="val 5000"/>
            </a:avLst>
          </a:prstGeom>
          <a:solidFill>
            <a:srgbClr val="F0EFF8"/>
          </a:solidFill>
          <a:ln w="12700">
            <a:solidFill>
              <a:srgbClr val="5B4F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41148" bIns="27432"/>
          <a:lstStyle/>
          <a:p>
            <a:pPr algn="l"/>
            <a:r>
              <a:rPr sz="800" b="1" i="0">
                <a:solidFill>
                  <a:srgbClr val="1B2126"/>
                </a:solidFill>
                <a:latin typeface="Arial"/>
              </a:rPr>
              <a:t>(f) Held-out SUMO evaluation</a:t>
            </a:r>
          </a:p>
          <a:p>
            <a:pPr algn="l">
              <a:spcBef>
                <a:spcPts val="150"/>
              </a:spcBef>
            </a:pPr>
            <a:r>
              <a:rPr sz="700" b="0" i="0">
                <a:solidFill>
                  <a:srgbClr val="4A545B"/>
                </a:solidFill>
                <a:latin typeface="Arial"/>
              </a:rPr>
              <a:t>return vs. cumulative SUMO episodes; test and OOD profiles</a:t>
            </a:r>
          </a:p>
          <a:p>
            <a:pPr algn="l">
              <a:spcBef>
                <a:spcPts val="150"/>
              </a:spcBef>
            </a:pPr>
            <a:r>
              <a:rPr sz="700" b="0" i="0">
                <a:solidFill>
                  <a:srgbClr val="4A545B"/>
                </a:solidFill>
                <a:latin typeface="Arial"/>
              </a:rPr>
              <a:t>vs. direct SUMO PPO, ALINEA, surrogate-MPC, one-step model</a:t>
            </a:r>
          </a:p>
        </p:txBody>
      </p:sp>
      <p:cxnSp>
        <p:nvCxnSpPr>
          <p:cNvPr id="16" name="a to b: data"/>
          <p:cNvCxnSpPr/>
          <p:nvPr/>
        </p:nvCxnSpPr>
        <p:spPr>
          <a:xfrm>
            <a:off x="1682495" y="777240"/>
            <a:ext cx="347473" cy="0"/>
          </a:xfrm>
          <a:prstGeom prst="line">
            <a:avLst/>
          </a:prstGeom>
          <a:ln w="11430">
            <a:solidFill>
              <a:srgbClr val="555F6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label: D_0 ∪ D_1 ∪ … ∪ D_R"/>
          <p:cNvSpPr txBox="1"/>
          <p:nvPr/>
        </p:nvSpPr>
        <p:spPr>
          <a:xfrm>
            <a:off x="1664207" y="475488"/>
            <a:ext cx="49377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650" b="0" i="0">
                <a:solidFill>
                  <a:srgbClr val="4A545B"/>
                </a:solidFill>
                <a:latin typeface="Arial"/>
              </a:rPr>
              <a:t>D_0 ∪ D_1 ∪ … ∪ D_R</a:t>
            </a:r>
          </a:p>
        </p:txBody>
      </p:sp>
      <p:sp>
        <p:nvSpPr>
          <p:cNvPr id="18" name="label: rollouts"/>
          <p:cNvSpPr txBox="1"/>
          <p:nvPr/>
        </p:nvSpPr>
        <p:spPr>
          <a:xfrm>
            <a:off x="1664207" y="841247"/>
            <a:ext cx="493776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650" b="0" i="0">
                <a:solidFill>
                  <a:srgbClr val="4A545B"/>
                </a:solidFill>
                <a:latin typeface="Arial"/>
              </a:rPr>
              <a:t>rollouts</a:t>
            </a:r>
          </a:p>
        </p:txBody>
      </p:sp>
      <p:cxnSp>
        <p:nvCxnSpPr>
          <p:cNvPr id="19" name="b to c: model"/>
          <p:cNvCxnSpPr/>
          <p:nvPr/>
        </p:nvCxnSpPr>
        <p:spPr>
          <a:xfrm>
            <a:off x="3602736" y="777240"/>
            <a:ext cx="347472" cy="0"/>
          </a:xfrm>
          <a:prstGeom prst="line">
            <a:avLst/>
          </a:prstGeom>
          <a:ln w="11430">
            <a:solidFill>
              <a:srgbClr val="555F6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label: {G_θ^(m)}"/>
          <p:cNvSpPr txBox="1"/>
          <p:nvPr/>
        </p:nvSpPr>
        <p:spPr>
          <a:xfrm>
            <a:off x="3584448" y="530352"/>
            <a:ext cx="384048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650" b="0" i="0">
                <a:solidFill>
                  <a:srgbClr val="4A545B"/>
                </a:solidFill>
                <a:latin typeface="Arial"/>
              </a:rPr>
              <a:t>{G_θ^(m)}</a:t>
            </a:r>
          </a:p>
        </p:txBody>
      </p:sp>
      <p:cxnSp>
        <p:nvCxnSpPr>
          <p:cNvPr id="21" name="c to d"/>
          <p:cNvCxnSpPr/>
          <p:nvPr/>
        </p:nvCxnSpPr>
        <p:spPr>
          <a:xfrm>
            <a:off x="4453128" y="1115568"/>
            <a:ext cx="0" cy="182880"/>
          </a:xfrm>
          <a:prstGeom prst="line">
            <a:avLst/>
          </a:prstGeom>
          <a:ln w="11430">
            <a:solidFill>
              <a:srgbClr val="555F6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label: o_k, r_k"/>
          <p:cNvSpPr txBox="1"/>
          <p:nvPr/>
        </p:nvSpPr>
        <p:spPr>
          <a:xfrm>
            <a:off x="3968496" y="1124712"/>
            <a:ext cx="4572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650" b="0" i="0">
                <a:solidFill>
                  <a:srgbClr val="4A545B"/>
                </a:solidFill>
                <a:latin typeface="Arial"/>
              </a:rPr>
              <a:t>o_k, r_k</a:t>
            </a:r>
          </a:p>
        </p:txBody>
      </p:sp>
      <p:cxnSp>
        <p:nvCxnSpPr>
          <p:cNvPr id="23" name="d to c"/>
          <p:cNvCxnSpPr/>
          <p:nvPr/>
        </p:nvCxnSpPr>
        <p:spPr>
          <a:xfrm flipV="1">
            <a:off x="5001768" y="1115568"/>
            <a:ext cx="0" cy="182880"/>
          </a:xfrm>
          <a:prstGeom prst="line">
            <a:avLst/>
          </a:prstGeom>
          <a:ln w="11430">
            <a:solidFill>
              <a:srgbClr val="555F6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label: u_k"/>
          <p:cNvSpPr txBox="1"/>
          <p:nvPr/>
        </p:nvSpPr>
        <p:spPr>
          <a:xfrm>
            <a:off x="5047488" y="1124712"/>
            <a:ext cx="4572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650" b="0" i="0">
                <a:solidFill>
                  <a:srgbClr val="4A545B"/>
                </a:solidFill>
                <a:latin typeface="Arial"/>
              </a:rPr>
              <a:t>u_k</a:t>
            </a:r>
          </a:p>
        </p:txBody>
      </p:sp>
      <p:cxnSp>
        <p:nvCxnSpPr>
          <p:cNvPr id="25" name="d to f: policy"/>
          <p:cNvCxnSpPr/>
          <p:nvPr/>
        </p:nvCxnSpPr>
        <p:spPr>
          <a:xfrm>
            <a:off x="5321808" y="1965960"/>
            <a:ext cx="0" cy="338328"/>
          </a:xfrm>
          <a:prstGeom prst="line">
            <a:avLst/>
          </a:prstGeom>
          <a:ln w="11430">
            <a:solidFill>
              <a:srgbClr val="555F6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label: selected policy π*"/>
          <p:cNvSpPr txBox="1"/>
          <p:nvPr/>
        </p:nvSpPr>
        <p:spPr>
          <a:xfrm>
            <a:off x="5367528" y="1984248"/>
            <a:ext cx="12801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650" b="0" i="0">
                <a:solidFill>
                  <a:srgbClr val="4A545B"/>
                </a:solidFill>
                <a:latin typeface="Arial"/>
              </a:rPr>
              <a:t>selected policy π*</a:t>
            </a:r>
          </a:p>
        </p:txBody>
      </p:sp>
      <p:cxnSp>
        <p:nvCxnSpPr>
          <p:cNvPr id="27" name="loop: policy rollouts in SUMO 1"/>
          <p:cNvCxnSpPr/>
          <p:nvPr/>
        </p:nvCxnSpPr>
        <p:spPr>
          <a:xfrm flipH="1">
            <a:off x="3785616" y="1645920"/>
            <a:ext cx="164592" cy="0"/>
          </a:xfrm>
          <a:prstGeom prst="line">
            <a:avLst/>
          </a:prstGeom>
          <a:ln w="17780">
            <a:solidFill>
              <a:srgbClr val="B85C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loop: policy rollouts in SUMO 2"/>
          <p:cNvCxnSpPr/>
          <p:nvPr/>
        </p:nvCxnSpPr>
        <p:spPr>
          <a:xfrm>
            <a:off x="3785616" y="1645920"/>
            <a:ext cx="0" cy="932688"/>
          </a:xfrm>
          <a:prstGeom prst="line">
            <a:avLst/>
          </a:prstGeom>
          <a:ln w="17780">
            <a:solidFill>
              <a:srgbClr val="B85C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loop: policy rollouts in SUMO 3"/>
          <p:cNvCxnSpPr/>
          <p:nvPr/>
        </p:nvCxnSpPr>
        <p:spPr>
          <a:xfrm flipH="1">
            <a:off x="896112" y="2578608"/>
            <a:ext cx="2889504" cy="0"/>
          </a:xfrm>
          <a:prstGeom prst="line">
            <a:avLst/>
          </a:prstGeom>
          <a:ln w="17780">
            <a:solidFill>
              <a:srgbClr val="B85C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loop: policy rollouts in SUMO 4"/>
          <p:cNvCxnSpPr/>
          <p:nvPr/>
        </p:nvCxnSpPr>
        <p:spPr>
          <a:xfrm flipV="1">
            <a:off x="896112" y="1965960"/>
            <a:ext cx="0" cy="612648"/>
          </a:xfrm>
          <a:prstGeom prst="line">
            <a:avLst/>
          </a:prstGeom>
          <a:ln w="17780">
            <a:solidFill>
              <a:srgbClr val="B85C1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label: (e) aggregation round j: rol"/>
          <p:cNvSpPr txBox="1"/>
          <p:nvPr/>
        </p:nvSpPr>
        <p:spPr>
          <a:xfrm>
            <a:off x="978407" y="2615184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650" b="0" i="0">
                <a:solidFill>
                  <a:srgbClr val="8F4406"/>
                </a:solidFill>
                <a:latin typeface="Arial"/>
              </a:rPr>
              <a:t>(e) aggregation round j: roll the top checkpoints in SUMO on validation profiles (54 episodes), measure the transfer gap, append D_j, fine-tune the ensemble</a:t>
            </a:r>
          </a:p>
        </p:txBody>
      </p:sp>
      <p:sp>
        <p:nvSpPr>
          <p:cNvPr id="32" name="label: fine-tune on D_j"/>
          <p:cNvSpPr txBox="1"/>
          <p:nvPr/>
        </p:nvSpPr>
        <p:spPr>
          <a:xfrm>
            <a:off x="2075688" y="1993391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650" b="0" i="0">
                <a:solidFill>
                  <a:srgbClr val="8F4406"/>
                </a:solidFill>
                <a:latin typeface="Arial"/>
              </a:rPr>
              <a:t>fine-tune on D_j</a:t>
            </a:r>
          </a:p>
        </p:txBody>
      </p:sp>
      <p:cxnSp>
        <p:nvCxnSpPr>
          <p:cNvPr id="33" name="loop: fine-tune model"/>
          <p:cNvCxnSpPr/>
          <p:nvPr/>
        </p:nvCxnSpPr>
        <p:spPr>
          <a:xfrm flipV="1">
            <a:off x="2816352" y="1965960"/>
            <a:ext cx="0" cy="612648"/>
          </a:xfrm>
          <a:prstGeom prst="line">
            <a:avLst/>
          </a:prstGeom>
          <a:ln w="17780">
            <a:solidFill>
              <a:srgbClr val="B85C1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